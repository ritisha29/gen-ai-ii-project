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64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6906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555" y="956667"/>
            <a:ext cx="12754808" cy="653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Review Radar AI: Customer Insight Discovery Engine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823555" y="1946672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Domain:</a:t>
            </a:r>
            <a:r>
              <a:rPr lang="en-US" sz="18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Business Analytics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23555" y="2566511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Presented BY: 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23555" y="3186351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Burugupalli Sai Ritisha - AP23110010443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23555" y="3806190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Sreenidhi Bala subramanyam - AP23110010422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23555" y="4426029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Suram Sai Charan Reddy - AP23110010432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23555" y="5045869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Kotaru Sravya - AP23110010581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23555" y="5665708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Yaganti Siva Himani - AP23110010418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23555" y="6285548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3555" y="6905387"/>
            <a:ext cx="12983289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8673" y="597337"/>
            <a:ext cx="4714875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808673" y="1259562"/>
            <a:ext cx="2828925" cy="353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The Challenge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8673" y="1886664"/>
            <a:ext cx="1301305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Businesses struggle to analyze customer sentiment at scale due to the lack of intelligent tools for processing unstructured data.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08673" y="2407206"/>
            <a:ext cx="6415326" cy="2008346"/>
          </a:xfrm>
          <a:prstGeom prst="roundRect">
            <a:avLst>
              <a:gd name="adj" fmla="val 15847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3702" y="2642235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16FFBB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8724" y="2817257"/>
            <a:ext cx="286345" cy="2863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43702" y="3461028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Large Volume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43702" y="3865007"/>
            <a:ext cx="5945267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Unstructured review data overwhelming traditional systems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06283" y="2407206"/>
            <a:ext cx="6415445" cy="2008346"/>
          </a:xfrm>
          <a:prstGeom prst="roundRect">
            <a:avLst>
              <a:gd name="adj" fmla="val 15847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41312" y="2642235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29DDD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6334" y="2817257"/>
            <a:ext cx="286345" cy="2863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1312" y="3461028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Keyword Limitations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7641312" y="3865007"/>
            <a:ext cx="594538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Misses context and fails with synonyms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808673" y="4597837"/>
            <a:ext cx="6415326" cy="2008346"/>
          </a:xfrm>
          <a:prstGeom prst="roundRect">
            <a:avLst>
              <a:gd name="adj" fmla="val 15847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43702" y="4832866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37A7E7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8724" y="5007888"/>
            <a:ext cx="286345" cy="28634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43702" y="5651659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Manual Filtering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1043702" y="6055638"/>
            <a:ext cx="5945267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Time-consuming and inefficient process</a:t>
            </a:r>
            <a:endParaRPr lang="en-US" sz="1650" dirty="0"/>
          </a:p>
        </p:txBody>
      </p:sp>
      <p:sp>
        <p:nvSpPr>
          <p:cNvPr id="20" name="Shape 15"/>
          <p:cNvSpPr/>
          <p:nvPr/>
        </p:nvSpPr>
        <p:spPr>
          <a:xfrm>
            <a:off x="7406283" y="4597837"/>
            <a:ext cx="6415445" cy="2008346"/>
          </a:xfrm>
          <a:prstGeom prst="roundRect">
            <a:avLst>
              <a:gd name="adj" fmla="val 15847"/>
            </a:avLst>
          </a:prstGeom>
          <a:solidFill>
            <a:srgbClr val="0A081B"/>
          </a:solidFill>
          <a:ln w="22860">
            <a:solidFill>
              <a:srgbClr val="09123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641312" y="4832866"/>
            <a:ext cx="636508" cy="636508"/>
          </a:xfrm>
          <a:prstGeom prst="roundRect">
            <a:avLst>
              <a:gd name="adj" fmla="val 14364447"/>
            </a:avLst>
          </a:prstGeom>
          <a:solidFill>
            <a:srgbClr val="09123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6334" y="5007888"/>
            <a:ext cx="286345" cy="28634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1312" y="5651659"/>
            <a:ext cx="235743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No Insights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7641312" y="6055638"/>
            <a:ext cx="5945386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Lack of actionable business intelligence</a:t>
            </a:r>
            <a:endParaRPr lang="en-US" sz="1650" dirty="0"/>
          </a:p>
        </p:txBody>
      </p:sp>
      <p:sp>
        <p:nvSpPr>
          <p:cNvPr id="25" name="Shape 19"/>
          <p:cNvSpPr/>
          <p:nvPr/>
        </p:nvSpPr>
        <p:spPr>
          <a:xfrm>
            <a:off x="808673" y="6811208"/>
            <a:ext cx="13013055" cy="820936"/>
          </a:xfrm>
          <a:prstGeom prst="roundRect">
            <a:avLst>
              <a:gd name="adj" fmla="val 38767"/>
            </a:avLst>
          </a:prstGeom>
          <a:solidFill>
            <a:srgbClr val="4B3F02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842" y="7126843"/>
            <a:ext cx="265152" cy="21216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98163" y="7046476"/>
            <a:ext cx="1211139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Example:</a:t>
            </a:r>
            <a:r>
              <a:rPr lang="en-US" sz="1650" dirty="0">
                <a:solidFill>
                  <a:srgbClr val="FFFF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"Battery drains fast" vs "Poor battery backup" → same meaning but different words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025604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Objectives &amp; Goals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205157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This system bridges the gap between raw data and business intelligence through AI-powered semantic understanding.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864037" y="3266956"/>
            <a:ext cx="4136231" cy="3048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6" name="Text 4"/>
          <p:cNvSpPr/>
          <p:nvPr/>
        </p:nvSpPr>
        <p:spPr>
          <a:xfrm>
            <a:off x="864037" y="3451265"/>
            <a:ext cx="320873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Semantic Search System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864037" y="3942278"/>
            <a:ext cx="4136231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Develop intelligent search that understands meaning beyond keywords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247084" y="3266956"/>
            <a:ext cx="4136231" cy="30480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10" name="Text 8"/>
          <p:cNvSpPr/>
          <p:nvPr/>
        </p:nvSpPr>
        <p:spPr>
          <a:xfrm>
            <a:off x="5247084" y="3451265"/>
            <a:ext cx="335482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Natural Language Queries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5247084" y="3942278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Enable users to search using conversational language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9630132" y="3266956"/>
            <a:ext cx="4136231" cy="3048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4" name="Text 12"/>
          <p:cNvSpPr/>
          <p:nvPr/>
        </p:nvSpPr>
        <p:spPr>
          <a:xfrm>
            <a:off x="9630132" y="3451265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Insight Extraction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9630132" y="3942278"/>
            <a:ext cx="413623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Extract meaningful patterns from customer reviews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64037" y="5948482"/>
            <a:ext cx="6327696" cy="30480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8" name="Text 16"/>
          <p:cNvSpPr/>
          <p:nvPr/>
        </p:nvSpPr>
        <p:spPr>
          <a:xfrm>
            <a:off x="864037" y="613279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Decision Efficiency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864037" y="6623804"/>
            <a:ext cx="632769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Improve business decision-making speed and accuracy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438549" y="5948482"/>
            <a:ext cx="6327815" cy="30480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2" name="Text 20"/>
          <p:cNvSpPr/>
          <p:nvPr/>
        </p:nvSpPr>
        <p:spPr>
          <a:xfrm>
            <a:off x="7438549" y="613279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Reduce Effort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7438549" y="6623804"/>
            <a:ext cx="632781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Minimize human intervention in data analysis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0175" y="558879"/>
            <a:ext cx="4286250" cy="535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Proposed Solution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400175" y="1821537"/>
            <a:ext cx="6909792" cy="54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The system understands </a:t>
            </a:r>
            <a:r>
              <a:rPr lang="en-US" sz="1500" b="1" dirty="0">
                <a:solidFill>
                  <a:srgbClr val="C49F8C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intent, not just words</a:t>
            </a: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, making it more intelligent than traditional keyword-based systems.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788122" y="1471255"/>
            <a:ext cx="214312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Key Concepts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88122" y="1889760"/>
            <a:ext cx="444960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Context-aware retrieval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Meaning-based matching</a:t>
            </a:r>
            <a:endParaRPr lang="en-US" sz="1500" dirty="0"/>
          </a:p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Semantic understanding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041452"/>
            <a:ext cx="964406" cy="1157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15195" y="3234333"/>
            <a:ext cx="214312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NLP Pipeline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2515195" y="3592592"/>
            <a:ext cx="10715030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Processes and understands text meaning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5" y="4198739"/>
            <a:ext cx="964406" cy="11572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15195" y="4391620"/>
            <a:ext cx="231183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Embedding Generation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2515195" y="4749879"/>
            <a:ext cx="10715030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Converts text into numerical vectors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0175" y="5356027"/>
            <a:ext cx="964406" cy="11572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15195" y="5548908"/>
            <a:ext cx="214312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Vector Storage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2515195" y="5907167"/>
            <a:ext cx="10715030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Saves embeddings in optimized database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175" y="6513314"/>
            <a:ext cx="964406" cy="11572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515195" y="6706195"/>
            <a:ext cx="2143125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Similarity Matching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2515195" y="7064454"/>
            <a:ext cx="10715030" cy="274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5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Finds contextually relevant results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583" y="754023"/>
            <a:ext cx="5400675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Technology Stack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583" y="1907500"/>
            <a:ext cx="607576" cy="6075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583" y="2814042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Python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50583" y="3295055"/>
            <a:ext cx="411039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Core development language providing flexibility and extensive libraries for AI and NLP tasks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59943" y="1907500"/>
            <a:ext cx="607576" cy="6075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59943" y="2814042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NLP Libraries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5259943" y="3295055"/>
            <a:ext cx="411039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NLTK and Transformers for advanced natural language processing and understanding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9304" y="1907500"/>
            <a:ext cx="607576" cy="6075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69304" y="2814042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Sentence-BERT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9669304" y="3295055"/>
            <a:ext cx="411051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Pre-trained embedding models that capture semantic meaning effectively</a:t>
            </a:r>
            <a:endParaRPr lang="en-US" sz="1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583" y="4930735"/>
            <a:ext cx="607576" cy="6075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0583" y="5837277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Vector Database</a:t>
            </a:r>
            <a:endParaRPr lang="en-US" sz="2100" dirty="0"/>
          </a:p>
        </p:txBody>
      </p:sp>
      <p:sp>
        <p:nvSpPr>
          <p:cNvPr id="14" name="Text 8"/>
          <p:cNvSpPr/>
          <p:nvPr/>
        </p:nvSpPr>
        <p:spPr>
          <a:xfrm>
            <a:off x="850583" y="6318290"/>
            <a:ext cx="411039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FAISS or Chroma for efficient similarity search and storage of high-dimensional vectors</a:t>
            </a:r>
            <a:endParaRPr lang="en-US" sz="19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59943" y="4930735"/>
            <a:ext cx="607576" cy="6075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59943" y="5837277"/>
            <a:ext cx="2700338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FastAPI</a:t>
            </a:r>
            <a:endParaRPr lang="en-US" sz="2100" dirty="0"/>
          </a:p>
        </p:txBody>
      </p:sp>
      <p:sp>
        <p:nvSpPr>
          <p:cNvPr id="17" name="Text 10"/>
          <p:cNvSpPr/>
          <p:nvPr/>
        </p:nvSpPr>
        <p:spPr>
          <a:xfrm>
            <a:off x="5259943" y="6318290"/>
            <a:ext cx="411039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Modern backend framework for building APIs that connect frontend and backend seamlessly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5100" y="543520"/>
            <a:ext cx="4029075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55100" y="1313378"/>
            <a:ext cx="11120199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This layered architecture ensures modularity, scalability, and maintainability throughout the 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936433" y="1986677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5100" y="1867614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1070" y="2003584"/>
            <a:ext cx="271939" cy="271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32090" y="1895951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Data Ingestion Layer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432090" y="2227540"/>
            <a:ext cx="10443210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Accepts CSV input files containing customer reviews and raw data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208371" y="3207544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27039" y="3088481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3008" y="3224451"/>
            <a:ext cx="271939" cy="271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04028" y="3116818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Processing Layer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2704028" y="3448407"/>
            <a:ext cx="10171271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Applies NLP techniques and generates semantic embeddings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480310" y="4428411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298978" y="4309348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34947" y="4445318"/>
            <a:ext cx="271939" cy="271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975967" y="4337685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Storage Layer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2975967" y="4669274"/>
            <a:ext cx="9899333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Persists vector representations in optimized database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752249" y="5649278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70917" y="5530215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06886" y="5666184"/>
            <a:ext cx="271939" cy="271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247906" y="5558552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API Layer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3247906" y="5890141"/>
            <a:ext cx="9627394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FastAPI handles request routing and response generation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2480310" y="6870144"/>
            <a:ext cx="181213" cy="815697"/>
          </a:xfrm>
          <a:prstGeom prst="roundRect">
            <a:avLst>
              <a:gd name="adj" fmla="val 150079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298978" y="6751082"/>
            <a:ext cx="543878" cy="543878"/>
          </a:xfrm>
          <a:prstGeom prst="roundRect">
            <a:avLst>
              <a:gd name="adj" fmla="val 84063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34947" y="6887051"/>
            <a:ext cx="271939" cy="271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975967" y="6779419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User Interface Layer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2975967" y="7111008"/>
            <a:ext cx="9899333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Provides intuitive interface for querying and visualization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19757" y="403027"/>
            <a:ext cx="3911203" cy="407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Workflow &amp; Methodology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757" y="1468755"/>
            <a:ext cx="3250287" cy="50041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19757" y="6570821"/>
            <a:ext cx="3942517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127557" y="1038582"/>
            <a:ext cx="4690467" cy="801053"/>
          </a:xfrm>
          <a:prstGeom prst="roundRect">
            <a:avLst>
              <a:gd name="adj" fmla="val 27449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58344" y="1200388"/>
            <a:ext cx="162877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Load Dataset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289363" y="1491020"/>
            <a:ext cx="436685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Read and clean CSV 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127557" y="1926669"/>
            <a:ext cx="4690467" cy="801053"/>
          </a:xfrm>
          <a:prstGeom prst="roundRect">
            <a:avLst>
              <a:gd name="adj" fmla="val 27449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58344" y="2088475"/>
            <a:ext cx="162877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Preprocess Text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289363" y="2379107"/>
            <a:ext cx="436685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Tokenization and stopword removal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27557" y="2814757"/>
            <a:ext cx="4690467" cy="801053"/>
          </a:xfrm>
          <a:prstGeom prst="roundRect">
            <a:avLst>
              <a:gd name="adj" fmla="val 27449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26197" y="2976563"/>
            <a:ext cx="169318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Generate Embeddings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289363" y="3267194"/>
            <a:ext cx="436685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Create vector representations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27557" y="3702844"/>
            <a:ext cx="4690467" cy="801053"/>
          </a:xfrm>
          <a:prstGeom prst="roundRect">
            <a:avLst>
              <a:gd name="adj" fmla="val 27449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58344" y="3864650"/>
            <a:ext cx="162877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Store Vectors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289363" y="4155281"/>
            <a:ext cx="436685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Save to vector database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127557" y="4590931"/>
            <a:ext cx="4690467" cy="801053"/>
          </a:xfrm>
          <a:prstGeom prst="roundRect">
            <a:avLst>
              <a:gd name="adj" fmla="val 27449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58344" y="4752737"/>
            <a:ext cx="162877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Accept Query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289363" y="5043368"/>
            <a:ext cx="436685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Get user search input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127557" y="5479018"/>
            <a:ext cx="4690467" cy="801053"/>
          </a:xfrm>
          <a:prstGeom prst="roundRect">
            <a:avLst>
              <a:gd name="adj" fmla="val 27449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58344" y="5640824"/>
            <a:ext cx="162877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Search Similarity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289363" y="5931456"/>
            <a:ext cx="436685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Find matching reviews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127557" y="6367105"/>
            <a:ext cx="4690467" cy="801053"/>
          </a:xfrm>
          <a:prstGeom prst="roundRect">
            <a:avLst>
              <a:gd name="adj" fmla="val 27449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58344" y="6528911"/>
            <a:ext cx="162877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Return Results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289363" y="6819543"/>
            <a:ext cx="4366855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Display relevant insights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819757" y="7363897"/>
            <a:ext cx="8990767" cy="461843"/>
          </a:xfrm>
          <a:prstGeom prst="roundRect">
            <a:avLst>
              <a:gd name="adj" fmla="val 47610"/>
            </a:avLst>
          </a:prstGeom>
          <a:solidFill>
            <a:srgbClr val="022349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6323" y="7563445"/>
            <a:ext cx="183237" cy="14656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296126" y="7487483"/>
            <a:ext cx="8367832" cy="18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Example:</a:t>
            </a:r>
            <a:r>
              <a:rPr lang="en-US" sz="1150" dirty="0">
                <a:solidFill>
                  <a:srgbClr val="FFFF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Query "Delivery issues" retrieves multiple related complaints about shipping problems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10797"/>
            <a:ext cx="568725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OUTPUT AND RESULTS</a:t>
            </a:r>
            <a:endParaRPr lang="en-US" sz="4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57" y="2948583"/>
            <a:ext cx="7402473" cy="2839164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535" y="2948583"/>
            <a:ext cx="5287328" cy="2839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64037" y="6223635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47" y="766048"/>
            <a:ext cx="7961352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Features, Advantages &amp; Limitations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56047" y="1838563"/>
            <a:ext cx="2880360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✅</a:t>
            </a:r>
            <a:r>
              <a:rPr lang="en-US" sz="22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Features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56047" y="2418755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2506" y="2665214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Semantic Search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02506" y="3154204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Understands meaning and context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56047" y="3913584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2506" y="4160044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Fast Retrieval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002506" y="4649033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Real-time results from large datasets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56047" y="5408414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2506" y="5654873"/>
            <a:ext cx="2459831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Scalable Architecture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1002506" y="6143863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Handles growing data volumes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11616" y="1838563"/>
            <a:ext cx="2880360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✅</a:t>
            </a:r>
            <a:r>
              <a:rPr lang="en-US" sz="22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Advantages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311616" y="2418755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58076" y="2665214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Saves Time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558076" y="3154204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Automates manual analysis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311616" y="3913584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58076" y="4160044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Better Accuracy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5558076" y="4649033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Context-aware matching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311616" y="5408414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8076" y="5654873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Large Datasets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5558076" y="6143863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Processes thousands of reviews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867186" y="1838563"/>
            <a:ext cx="2880360" cy="367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⚠️</a:t>
            </a:r>
            <a:r>
              <a:rPr lang="en-US" sz="22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Limitations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867186" y="2418755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16FF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13645" y="2665214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Model Quality</a:t>
            </a:r>
            <a:endParaRPr lang="en-US" sz="1850" dirty="0"/>
          </a:p>
        </p:txBody>
      </p:sp>
      <p:sp>
        <p:nvSpPr>
          <p:cNvPr id="26" name="Text 24"/>
          <p:cNvSpPr/>
          <p:nvPr/>
        </p:nvSpPr>
        <p:spPr>
          <a:xfrm>
            <a:off x="10113645" y="3154204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Requires good embedding models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9867186" y="3913584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29DD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13645" y="4160044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Computational Cost</a:t>
            </a:r>
            <a:endParaRPr lang="en-US" sz="1850" dirty="0"/>
          </a:p>
        </p:txBody>
      </p:sp>
      <p:sp>
        <p:nvSpPr>
          <p:cNvPr id="29" name="Text 27"/>
          <p:cNvSpPr/>
          <p:nvPr/>
        </p:nvSpPr>
        <p:spPr>
          <a:xfrm>
            <a:off x="10113645" y="4649033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Resource-intensive processing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9867186" y="5408414"/>
            <a:ext cx="4020979" cy="1305878"/>
          </a:xfrm>
          <a:prstGeom prst="roundRect">
            <a:avLst>
              <a:gd name="adj" fmla="val 24814"/>
            </a:avLst>
          </a:prstGeom>
          <a:solidFill>
            <a:srgbClr val="0A081B">
              <a:alpha val="75000"/>
            </a:srgbClr>
          </a:solidFill>
          <a:ln w="30480">
            <a:solidFill>
              <a:srgbClr val="37A7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13645" y="5654873"/>
            <a:ext cx="24003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Setup Complexity</a:t>
            </a:r>
            <a:endParaRPr lang="en-US" sz="1850" dirty="0"/>
          </a:p>
        </p:txBody>
      </p:sp>
      <p:sp>
        <p:nvSpPr>
          <p:cNvPr id="32" name="Text 30"/>
          <p:cNvSpPr/>
          <p:nvPr/>
        </p:nvSpPr>
        <p:spPr>
          <a:xfrm>
            <a:off x="10113645" y="6143863"/>
            <a:ext cx="3528060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Initial configuration effort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56047" y="7139583"/>
            <a:ext cx="13118306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i="1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Every system has trade-offs, but the benefits significantly outweigh the limitations for most business use cases.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5100" y="589240"/>
            <a:ext cx="4982289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Applications &amp; Conclusion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55100" y="1146096"/>
            <a:ext cx="2417445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Applications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755100" y="1647825"/>
            <a:ext cx="5493544" cy="1653064"/>
          </a:xfrm>
          <a:prstGeom prst="roundRect">
            <a:avLst>
              <a:gd name="adj" fmla="val 16452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51553" y="1844278"/>
            <a:ext cx="543878" cy="543878"/>
          </a:xfrm>
          <a:prstGeom prst="roundRect">
            <a:avLst>
              <a:gd name="adj" fmla="val 16810913"/>
            </a:avLst>
          </a:prstGeom>
          <a:solidFill>
            <a:srgbClr val="16FFB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1096" y="1993821"/>
            <a:ext cx="244673" cy="2446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51553" y="2521268"/>
            <a:ext cx="205990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E-commerce Analysis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51553" y="2852857"/>
            <a:ext cx="510063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Review analysis for online retail platforms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81756" y="1647825"/>
            <a:ext cx="5493544" cy="1653064"/>
          </a:xfrm>
          <a:prstGeom prst="roundRect">
            <a:avLst>
              <a:gd name="adj" fmla="val 16452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8209" y="1844278"/>
            <a:ext cx="543878" cy="543878"/>
          </a:xfrm>
          <a:prstGeom prst="roundRect">
            <a:avLst>
              <a:gd name="adj" fmla="val 16810913"/>
            </a:avLst>
          </a:prstGeom>
          <a:solidFill>
            <a:srgbClr val="29DDD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7752" y="1993821"/>
            <a:ext cx="244673" cy="2446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78209" y="2521268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Customer Feedback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578209" y="2852857"/>
            <a:ext cx="510063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Systematic processing of customer input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755100" y="3434001"/>
            <a:ext cx="5493544" cy="1653064"/>
          </a:xfrm>
          <a:prstGeom prst="roundRect">
            <a:avLst>
              <a:gd name="adj" fmla="val 16452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951553" y="3630454"/>
            <a:ext cx="543878" cy="543878"/>
          </a:xfrm>
          <a:prstGeom prst="roundRect">
            <a:avLst>
              <a:gd name="adj" fmla="val 16810913"/>
            </a:avLst>
          </a:prstGeom>
          <a:solidFill>
            <a:srgbClr val="37A7E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1096" y="3779996"/>
            <a:ext cx="244673" cy="2446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51553" y="4307443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Product Insights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951553" y="4639032"/>
            <a:ext cx="510063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Identify improvement opportunities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381756" y="3434001"/>
            <a:ext cx="5493544" cy="1653064"/>
          </a:xfrm>
          <a:prstGeom prst="roundRect">
            <a:avLst>
              <a:gd name="adj" fmla="val 16452"/>
            </a:avLst>
          </a:prstGeom>
          <a:solidFill>
            <a:srgbClr val="0A081B"/>
          </a:solidFill>
          <a:ln w="15240">
            <a:solidFill>
              <a:srgbClr val="09123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78209" y="3630454"/>
            <a:ext cx="543878" cy="543878"/>
          </a:xfrm>
          <a:prstGeom prst="roundRect">
            <a:avLst>
              <a:gd name="adj" fmla="val 16810913"/>
            </a:avLst>
          </a:prstGeom>
          <a:solidFill>
            <a:srgbClr val="09123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7752" y="3779996"/>
            <a:ext cx="244673" cy="2446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8209" y="4307443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Social Analytics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578209" y="4639032"/>
            <a:ext cx="5100638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Monitor brand sentiment across platforms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1755100" y="5282089"/>
            <a:ext cx="11120199" cy="13573"/>
          </a:xfrm>
          <a:prstGeom prst="rect">
            <a:avLst/>
          </a:prstGeom>
          <a:solidFill>
            <a:srgbClr val="E0E4E6">
              <a:alpha val="50000"/>
            </a:srgbClr>
          </a:solidFill>
          <a:ln/>
        </p:spPr>
      </p:sp>
      <p:sp>
        <p:nvSpPr>
          <p:cNvPr id="25" name="Text 19"/>
          <p:cNvSpPr/>
          <p:nvPr/>
        </p:nvSpPr>
        <p:spPr>
          <a:xfrm>
            <a:off x="1755100" y="5540573"/>
            <a:ext cx="2417445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F0FCFF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Conclusion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1755100" y="6042303"/>
            <a:ext cx="407908" cy="407908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15240">
            <a:solidFill>
              <a:srgbClr val="16FFB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296120" y="6104573"/>
            <a:ext cx="2014538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AI-Driven Extraction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2296120" y="6436162"/>
            <a:ext cx="3054787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Transforms unstructured text into structured insights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517237" y="6042303"/>
            <a:ext cx="407908" cy="407908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15240">
            <a:solidFill>
              <a:srgbClr val="29DDD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058257" y="6104573"/>
            <a:ext cx="255139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Improved Decision-Making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6058257" y="6436162"/>
            <a:ext cx="3054787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Provides actionable business intelligence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9279374" y="6042303"/>
            <a:ext cx="407908" cy="407908"/>
          </a:xfrm>
          <a:prstGeom prst="roundRect">
            <a:avLst>
              <a:gd name="adj" fmla="val 66673"/>
            </a:avLst>
          </a:prstGeom>
          <a:solidFill>
            <a:srgbClr val="0A081B"/>
          </a:solidFill>
          <a:ln w="15240">
            <a:solidFill>
              <a:srgbClr val="37A7E7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9820394" y="6104573"/>
            <a:ext cx="2166580" cy="251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Reduced Manual Effort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9820394" y="6436162"/>
            <a:ext cx="3054906" cy="503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Automates time-consuming analysis tasks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2027039" y="7238881"/>
            <a:ext cx="10848261" cy="251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C49F8C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This project demonstrates how AI can transform unstructured data into actionable insights for businesses.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1755100" y="7089100"/>
            <a:ext cx="22860" cy="551140"/>
          </a:xfrm>
          <a:prstGeom prst="rect">
            <a:avLst/>
          </a:prstGeom>
          <a:solidFill>
            <a:srgbClr val="16FFB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A38814-01D9-4025-25EC-B71C81DC33A0}"/>
              </a:ext>
            </a:extLst>
          </p:cNvPr>
          <p:cNvSpPr txBox="1"/>
          <p:nvPr/>
        </p:nvSpPr>
        <p:spPr>
          <a:xfrm>
            <a:off x="3847171" y="3391525"/>
            <a:ext cx="75382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882960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579</Words>
  <Application>Microsoft Office PowerPoint</Application>
  <PresentationFormat>Custom</PresentationFormat>
  <Paragraphs>138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Ritisha Burugupalli</cp:lastModifiedBy>
  <cp:revision>2</cp:revision>
  <dcterms:created xsi:type="dcterms:W3CDTF">2026-04-27T18:16:33Z</dcterms:created>
  <dcterms:modified xsi:type="dcterms:W3CDTF">2026-04-27T18:22:32Z</dcterms:modified>
</cp:coreProperties>
</file>